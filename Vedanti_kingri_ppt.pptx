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notesSlides/notesSlide8.xml" ContentType="application/vnd.openxmlformats-officedocument.presentationml.notesSlide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71" d="100"/>
          <a:sy n="71" d="100"/>
        </p:scale>
        <p:origin x="696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Total Revenue</c:v>
                </c:pt>
              </c:strCache>
            </c:strRef>
          </c:tx>
          <c:spPr>
            <a:ln w="38100" cap="flat">
              <a:solidFill>
                <a:srgbClr val="B5551D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B5551D"/>
              </a:solidFill>
              <a:ln w="9525" cap="flat">
                <a:solidFill>
                  <a:srgbClr val="B5551D"/>
                </a:solidFill>
                <a:prstDash val="solid"/>
                <a:round/>
              </a:ln>
              <a:effectLst/>
            </c:spPr>
          </c:marker>
          <c:cat>
            <c:strRef>
              <c:f>Sheet1!$A$2:$A$7</c:f>
              <c:strCache>
                <c:ptCount val="6"/>
                <c:pt idx="0">
                  <c:v>2026-06</c:v>
                </c:pt>
                <c:pt idx="1">
                  <c:v>2026-01</c:v>
                </c:pt>
                <c:pt idx="2">
                  <c:v>2026-04</c:v>
                </c:pt>
                <c:pt idx="3">
                  <c:v>2026-02</c:v>
                </c:pt>
                <c:pt idx="4">
                  <c:v>2026-05</c:v>
                </c:pt>
                <c:pt idx="5">
                  <c:v>2026-03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1.6</c:v>
                </c:pt>
                <c:pt idx="1">
                  <c:v>1.54</c:v>
                </c:pt>
                <c:pt idx="2">
                  <c:v>1.42</c:v>
                </c:pt>
                <c:pt idx="3">
                  <c:v>1.4</c:v>
                </c:pt>
                <c:pt idx="4">
                  <c:v>1.39</c:v>
                </c:pt>
                <c:pt idx="5">
                  <c:v>1.38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5034-4B5D-B15D-DF27BD8434C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7A5B47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.65"/>
          <c:min val="1.3"/>
        </c:scaling>
        <c:delete val="0"/>
        <c:axPos val="l"/>
        <c:majorGridlines>
          <c:spPr>
            <a:ln w="9525" cap="flat">
              <a:solidFill>
                <a:srgbClr val="EACBAF"/>
              </a:solidFill>
              <a:prstDash val="dash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1000" b="0" i="0" u="none" strike="noStrike">
                    <a:solidFill>
                      <a:srgbClr val="7A5B47"/>
                    </a:solidFill>
                    <a:latin typeface="Arial"/>
                  </a:defRPr>
                </a:pPr>
                <a:r>
                  <a:rPr lang="en-IN" sz="1000" b="0" i="0" u="none" strike="noStrike">
                    <a:solidFill>
                      <a:srgbClr val="7A5B47"/>
                    </a:solidFill>
                    <a:latin typeface="Arial"/>
                  </a:rPr>
                  <a:t>Revenue (₹M)</a:t>
                </a:r>
              </a:p>
            </c:rich>
          </c:tx>
          <c:layout/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7A5B47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BEEE3"/>
        </a:solidFill>
        <a:ln>
          <a:noFill/>
        </a:ln>
        <a:effectLst/>
      </c:spPr>
    </c:plotArea>
    <c:plotVisOnly val="1"/>
    <c:dispBlanksAs val="span"/>
    <c:showDLblsOverMax val="1"/>
  </c:chart>
  <c:spPr>
    <a:solidFill>
      <a:srgbClr val="FBEEE3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Revenue Share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D94F87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63E9-4CE1-AADA-9072F840083F}"/>
              </c:ext>
            </c:extLst>
          </c:dPt>
          <c:dPt>
            <c:idx val="1"/>
            <c:bubble3D val="0"/>
            <c:spPr>
              <a:solidFill>
                <a:srgbClr val="E08A3C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63E9-4CE1-AADA-9072F840083F}"/>
              </c:ext>
            </c:extLst>
          </c:dPt>
          <c:dPt>
            <c:idx val="2"/>
            <c:bubble3D val="0"/>
            <c:spPr>
              <a:solidFill>
                <a:srgbClr val="8E7FD1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63E9-4CE1-AADA-9072F840083F}"/>
              </c:ext>
            </c:extLst>
          </c:dPt>
          <c:dPt>
            <c:idx val="3"/>
            <c:bubble3D val="0"/>
            <c:spPr>
              <a:solidFill>
                <a:srgbClr val="5B3A73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63E9-4CE1-AADA-9072F840083F}"/>
              </c:ext>
            </c:extLst>
          </c:dPt>
          <c:dPt>
            <c:idx val="4"/>
            <c:bubble3D val="0"/>
            <c:spPr>
              <a:solidFill>
                <a:srgbClr val="E0C23C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9-63E9-4CE1-AADA-9072F840083F}"/>
              </c:ext>
            </c:extLst>
          </c:dPt>
          <c:cat>
            <c:strRef>
              <c:f>Sheet1!$A$2:$A$6</c:f>
              <c:strCache>
                <c:ptCount val="5"/>
                <c:pt idx="0">
                  <c:v>Furniture (31.4%)</c:v>
                </c:pt>
                <c:pt idx="1">
                  <c:v>Electronics (23.4%)</c:v>
                </c:pt>
                <c:pt idx="2">
                  <c:v>Home &amp; Kitchen (17.0%)</c:v>
                </c:pt>
                <c:pt idx="3">
                  <c:v>Fashion (14.3%)</c:v>
                </c:pt>
                <c:pt idx="4">
                  <c:v>Sports &amp; Fitness (6.9%)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31.36</c:v>
                </c:pt>
                <c:pt idx="1">
                  <c:v>23.41</c:v>
                </c:pt>
                <c:pt idx="2">
                  <c:v>17.010000000000002</c:v>
                </c:pt>
                <c:pt idx="3">
                  <c:v>14.33</c:v>
                </c:pt>
                <c:pt idx="4">
                  <c:v>6.92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A-63E9-4CE1-AADA-9072F840083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  <c:holeSize val="55"/>
      </c:doughnutChart>
      <c:spPr>
        <a:noFill/>
        <a:ln>
          <a:noFill/>
        </a:ln>
        <a:effectLst/>
      </c:spPr>
    </c:plotArea>
    <c:legend>
      <c:legendPos val="b"/>
      <c:layout/>
      <c:overlay val="0"/>
      <c:txPr>
        <a:bodyPr/>
        <a:lstStyle/>
        <a:p>
          <a:pPr>
            <a:defRPr sz="1000">
              <a:solidFill>
                <a:srgbClr val="3A2317"/>
              </a:solidFill>
            </a:defRPr>
          </a:pPr>
          <a:endParaRPr lang="en-US"/>
        </a:p>
      </c:txPr>
    </c:legend>
    <c:plotVisOnly val="1"/>
    <c:dispBlanksAs val="span"/>
    <c:showDLblsOverMax val="1"/>
  </c:chart>
  <c:spPr>
    <a:solidFill>
      <a:srgbClr val="FBEEE3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</c:v>
                </c:pt>
              </c:strCache>
            </c:strRef>
          </c:tx>
          <c:spPr>
            <a:solidFill>
              <a:srgbClr val="B5551D"/>
            </a:solidFill>
            <a:effectLst/>
          </c:spPr>
          <c:invertIfNegative val="0"/>
          <c:dLbls>
            <c:numFmt formatCode="0.0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0" i="0" u="none" strike="noStrike">
                    <a:solidFill>
                      <a:srgbClr val="3A2317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Bluetooth Speaker</c:v>
                </c:pt>
                <c:pt idx="1">
                  <c:v>Mixer Grinder</c:v>
                </c:pt>
                <c:pt idx="2">
                  <c:v>Smart Watch</c:v>
                </c:pt>
                <c:pt idx="3">
                  <c:v>Office Chair</c:v>
                </c:pt>
                <c:pt idx="4">
                  <c:v>Study Table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0.6</c:v>
                </c:pt>
                <c:pt idx="1">
                  <c:v>0.65</c:v>
                </c:pt>
                <c:pt idx="2">
                  <c:v>0.85</c:v>
                </c:pt>
                <c:pt idx="3">
                  <c:v>1.25</c:v>
                </c:pt>
                <c:pt idx="4">
                  <c:v>1.45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427A-4C6D-B1A3-11066CC65A60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3A2317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.8"/>
        </c:scaling>
        <c:delete val="0"/>
        <c:axPos val="b"/>
        <c:majorGridlines>
          <c:spPr>
            <a:ln w="9525" cap="flat">
              <a:solidFill>
                <a:srgbClr val="EACBAF"/>
              </a:solidFill>
              <a:prstDash val="dash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7A5B47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BEEE3"/>
        </a:solidFill>
        <a:ln>
          <a:noFill/>
        </a:ln>
        <a:effectLst/>
      </c:spPr>
    </c:plotArea>
    <c:plotVisOnly val="1"/>
    <c:dispBlanksAs val="span"/>
    <c:showDLblsOverMax val="1"/>
  </c:chart>
  <c:spPr>
    <a:solidFill>
      <a:srgbClr val="FBEEE3"/>
    </a:solidFill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Conversion %</c:v>
                </c:pt>
              </c:strCache>
            </c:strRef>
          </c:tx>
          <c:spPr>
            <a:solidFill>
              <a:srgbClr val="8C3F14"/>
            </a:solidFill>
            <a:effectLst/>
          </c:spPr>
          <c:invertIfNegative val="0"/>
          <c:dLbls>
            <c:numFmt formatCode="0&quot;%&quot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0" i="0" u="none" strike="noStrike">
                    <a:solidFill>
                      <a:srgbClr val="3A2317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Email</c:v>
                </c:pt>
                <c:pt idx="1">
                  <c:v>Direct</c:v>
                </c:pt>
                <c:pt idx="2">
                  <c:v>Search</c:v>
                </c:pt>
                <c:pt idx="3">
                  <c:v>Social</c:v>
                </c:pt>
                <c:pt idx="4">
                  <c:v>Referral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97</c:v>
                </c:pt>
                <c:pt idx="1">
                  <c:v>95</c:v>
                </c:pt>
                <c:pt idx="2">
                  <c:v>93</c:v>
                </c:pt>
                <c:pt idx="3">
                  <c:v>90</c:v>
                </c:pt>
                <c:pt idx="4">
                  <c:v>88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D076-4103-AA17-D4E6407CB1D4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3A2317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00"/>
        </c:scaling>
        <c:delete val="0"/>
        <c:axPos val="l"/>
        <c:majorGridlines>
          <c:spPr>
            <a:ln w="9525" cap="flat">
              <a:solidFill>
                <a:srgbClr val="EACBAF"/>
              </a:solidFill>
              <a:prstDash val="dash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7A5B47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BEEE3"/>
        </a:solidFill>
        <a:ln>
          <a:noFill/>
        </a:ln>
        <a:effectLst/>
      </c:spPr>
    </c:plotArea>
    <c:plotVisOnly val="1"/>
    <c:dispBlanksAs val="span"/>
    <c:showDLblsOverMax val="1"/>
  </c:chart>
  <c:spPr>
    <a:solidFill>
      <a:srgbClr val="FBEEE3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342864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REAM_MASTER">
    <p:bg>
      <p:bgPr>
        <a:solidFill>
          <a:srgbClr val="FBEEE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chart" Target="../charts/char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chart" Target="../charts/chart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4A2418"/>
          </a:solidFill>
          <a:ln/>
        </p:spPr>
      </p:sp>
      <p:sp>
        <p:nvSpPr>
          <p:cNvPr id="3" name="Shape 1"/>
          <p:cNvSpPr/>
          <p:nvPr/>
        </p:nvSpPr>
        <p:spPr>
          <a:xfrm>
            <a:off x="8869680" y="-1463040"/>
            <a:ext cx="5486400" cy="5486400"/>
          </a:xfrm>
          <a:prstGeom prst="ellipse">
            <a:avLst/>
          </a:prstGeom>
          <a:solidFill>
            <a:srgbClr val="8C3F14"/>
          </a:solidFill>
          <a:ln/>
        </p:spPr>
      </p:sp>
      <p:sp>
        <p:nvSpPr>
          <p:cNvPr id="4" name="Shape 2"/>
          <p:cNvSpPr/>
          <p:nvPr/>
        </p:nvSpPr>
        <p:spPr>
          <a:xfrm>
            <a:off x="9692640" y="-640080"/>
            <a:ext cx="3840480" cy="3840480"/>
          </a:xfrm>
          <a:prstGeom prst="ellipse">
            <a:avLst/>
          </a:prstGeom>
          <a:solidFill>
            <a:srgbClr val="B5551D"/>
          </a:solidFill>
          <a:ln/>
        </p:spPr>
      </p:sp>
      <p:sp>
        <p:nvSpPr>
          <p:cNvPr id="5" name="Shape 3"/>
          <p:cNvSpPr/>
          <p:nvPr/>
        </p:nvSpPr>
        <p:spPr>
          <a:xfrm>
            <a:off x="-1280160" y="4206240"/>
            <a:ext cx="4114800" cy="4114800"/>
          </a:xfrm>
          <a:prstGeom prst="ellipse">
            <a:avLst/>
          </a:prstGeom>
          <a:solidFill>
            <a:srgbClr val="8C3F14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731520" y="2011680"/>
            <a:ext cx="868680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46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E-Commerce Performance</a:t>
            </a:r>
            <a:endParaRPr lang="en-US" sz="4000" dirty="0"/>
          </a:p>
          <a:p>
            <a:pPr marL="0" indent="0">
              <a:lnSpc>
                <a:spcPts val="46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Analytics Dashboard</a:t>
            </a:r>
            <a:endParaRPr lang="en-US" sz="4000" dirty="0"/>
          </a:p>
        </p:txBody>
      </p:sp>
      <p:sp>
        <p:nvSpPr>
          <p:cNvPr id="11" name="Text 9"/>
          <p:cNvSpPr txBox="1"/>
          <p:nvPr/>
        </p:nvSpPr>
        <p:spPr>
          <a:xfrm>
            <a:off x="731520" y="5623560"/>
            <a:ext cx="8686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C79A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for </a:t>
            </a:r>
            <a:r>
              <a:rPr lang="en-US" sz="1600" dirty="0" smtClean="0">
                <a:solidFill>
                  <a:srgbClr val="C79A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internship  </a:t>
            </a:r>
            <a:r>
              <a:rPr lang="en-US" sz="1600" dirty="0">
                <a:solidFill>
                  <a:srgbClr val="C79A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|  </a:t>
            </a:r>
            <a:r>
              <a:rPr lang="en-US" sz="1600" dirty="0" err="1" smtClean="0">
                <a:solidFill>
                  <a:srgbClr val="C79A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Vedanti</a:t>
            </a:r>
            <a:r>
              <a:rPr lang="en-US" sz="1600" dirty="0" smtClean="0">
                <a:solidFill>
                  <a:srgbClr val="C79A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dirty="0" smtClean="0">
                <a:solidFill>
                  <a:srgbClr val="C79A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Kingri </a:t>
            </a:r>
            <a:r>
              <a:rPr lang="en-US" sz="1600" dirty="0">
                <a:solidFill>
                  <a:srgbClr val="C79A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r>
              <a:rPr lang="en-US" sz="1600" dirty="0" err="1" smtClean="0">
                <a:solidFill>
                  <a:srgbClr val="C79A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Quillance</a:t>
            </a:r>
            <a:r>
              <a:rPr lang="en-US" sz="1600" dirty="0" smtClean="0">
                <a:solidFill>
                  <a:srgbClr val="C79A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dirty="0" err="1" smtClean="0">
                <a:solidFill>
                  <a:srgbClr val="C79A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Infotech.Pvt.Ltd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2377440" cy="329184"/>
          </a:xfrm>
          <a:prstGeom prst="roundRect">
            <a:avLst>
              <a:gd name="adj" fmla="val 22222"/>
            </a:avLst>
          </a:prstGeom>
          <a:solidFill>
            <a:srgbClr val="B5551D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411480"/>
            <a:ext cx="23774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868680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3A23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Turning Raw E-Commerce Data Into a Single View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600200"/>
            <a:ext cx="66751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3A23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E-commerce businesses generate large volumes of transactional and behavioural data every day — from the moment a visitor lands on the site to the point of checkout. Without a structured way to consolidate this data, decision-makers struggle to see what is working and where revenue is being lost.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3063240"/>
            <a:ext cx="66751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3A23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project brings revenue, acquisition channel, device usage, and product-level performance together into one interactive, filterable dashboard — covering the full workflow from data preparation to visualisation and interpretation.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7452360" y="1600200"/>
            <a:ext cx="4279392" cy="4434840"/>
          </a:xfrm>
          <a:prstGeom prst="roundRect">
            <a:avLst>
              <a:gd name="adj" fmla="val 2564"/>
            </a:avLst>
          </a:prstGeom>
          <a:solidFill>
            <a:srgbClr val="F3D9C4"/>
          </a:solidFill>
          <a:ln/>
          <a:effectLst>
            <a:outerShdw blurRad="76200" dist="38100" dir="5400000" algn="bl" rotWithShape="0">
              <a:srgbClr val="3A2317">
                <a:alpha val="25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7818120" y="182880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100" dirty="0">
                <a:solidFill>
                  <a:srgbClr val="8C3F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CONTEXT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7818120" y="219456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A23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mid-sized online retail store selling across: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7818120" y="2651760"/>
            <a:ext cx="109728" cy="109728"/>
          </a:xfrm>
          <a:prstGeom prst="ellipse">
            <a:avLst/>
          </a:prstGeom>
          <a:solidFill>
            <a:srgbClr val="B5551D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8046720" y="2532888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A23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Categories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8046720" y="2788920"/>
            <a:ext cx="3520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7A5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Furniture, Electronics, Home &amp; Kitchen, Fashion, Sports &amp; Fitness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7818120" y="3456432"/>
            <a:ext cx="109728" cy="109728"/>
          </a:xfrm>
          <a:prstGeom prst="ellipse">
            <a:avLst/>
          </a:prstGeom>
          <a:solidFill>
            <a:srgbClr val="B5551D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8046720" y="333756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A23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Channels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8046720" y="3593592"/>
            <a:ext cx="3520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7A5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Direct, Email, Search, Social, Referral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7818120" y="4261104"/>
            <a:ext cx="109728" cy="109728"/>
          </a:xfrm>
          <a:prstGeom prst="ellipse">
            <a:avLst/>
          </a:prstGeom>
          <a:solidFill>
            <a:srgbClr val="B5551D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8046720" y="4142232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A23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Devices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8046720" y="4398264"/>
            <a:ext cx="3520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7A5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Desktop and Mobile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7818120" y="5065776"/>
            <a:ext cx="109728" cy="109728"/>
          </a:xfrm>
          <a:prstGeom prst="ellipse">
            <a:avLst/>
          </a:prstGeom>
          <a:solidFill>
            <a:srgbClr val="B5551D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8046720" y="4946904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A23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Window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8046720" y="5202936"/>
            <a:ext cx="3520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7A5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6-month transactional analysis period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A5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E-Commerce Performance Analytics Dashboard</a:t>
            </a:r>
            <a:endParaRPr lang="en-US" sz="1000" dirty="0"/>
          </a:p>
        </p:txBody>
      </p:sp>
      <p:sp>
        <p:nvSpPr>
          <p:cNvPr id="23" name="Text 21"/>
          <p:cNvSpPr txBox="1"/>
          <p:nvPr/>
        </p:nvSpPr>
        <p:spPr>
          <a:xfrm>
            <a:off x="11521440" y="6528816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A5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199" y="368448"/>
            <a:ext cx="3297219" cy="636315"/>
          </a:xfrm>
          <a:prstGeom prst="roundRect">
            <a:avLst>
              <a:gd name="adj" fmla="val 22222"/>
            </a:avLst>
          </a:prstGeom>
          <a:solidFill>
            <a:srgbClr val="B5551D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763791" y="300408"/>
            <a:ext cx="2684033" cy="7933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&amp; OBJECTIVES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457200" y="1645920"/>
            <a:ext cx="5394960" cy="4572000"/>
          </a:xfrm>
          <a:prstGeom prst="roundRect">
            <a:avLst>
              <a:gd name="adj" fmla="val 2400"/>
            </a:avLst>
          </a:prstGeom>
          <a:solidFill>
            <a:srgbClr val="4A2418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77240" y="1874520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100" dirty="0">
                <a:solidFill>
                  <a:srgbClr val="D98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2331720"/>
            <a:ext cx="4754880" cy="3749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20000"/>
              </a:lnSpc>
              <a:spcAft>
                <a:spcPts val="1400"/>
              </a:spcAft>
              <a:buSzPct val="100000"/>
              <a:buChar char="•"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single, consolidated view of core KPIs — revenue, conversion, AOV</a:t>
            </a:r>
            <a:endParaRPr lang="en-US" sz="1450" dirty="0"/>
          </a:p>
          <a:p>
            <a:pPr marL="342900" indent="-342900">
              <a:lnSpc>
                <a:spcPct val="120000"/>
              </a:lnSpc>
              <a:spcAft>
                <a:spcPts val="1400"/>
              </a:spcAft>
              <a:buSzPct val="100000"/>
              <a:buChar char="•"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 to compare performance across channels, devices, categories</a:t>
            </a:r>
            <a:endParaRPr lang="en-US" sz="1450" dirty="0"/>
          </a:p>
          <a:p>
            <a:pPr marL="342900" indent="-342900">
              <a:lnSpc>
                <a:spcPct val="120000"/>
              </a:lnSpc>
              <a:spcAft>
                <a:spcPts val="1400"/>
              </a:spcAft>
              <a:buSzPct val="100000"/>
              <a:buChar char="•"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visibility into the purchase funnel: visit → cart → checkout → purchase</a:t>
            </a:r>
            <a:endParaRPr lang="en-US" sz="1450" dirty="0"/>
          </a:p>
          <a:p>
            <a:pPr marL="342900" indent="-342900">
              <a:lnSpc>
                <a:spcPct val="120000"/>
              </a:lnSpc>
              <a:spcAft>
                <a:spcPts val="1400"/>
              </a:spcAft>
              <a:buSzPct val="100000"/>
              <a:buChar char="•"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Difficult to identify top / bottom-performing products for planning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6309360" y="1645920"/>
            <a:ext cx="5422392" cy="4572000"/>
          </a:xfrm>
          <a:prstGeom prst="roundRect">
            <a:avLst>
              <a:gd name="adj" fmla="val 2400"/>
            </a:avLst>
          </a:prstGeom>
          <a:solidFill>
            <a:srgbClr val="F3D9C4"/>
          </a:solidFill>
          <a:ln/>
          <a:effectLst>
            <a:outerShdw blurRad="76200" dist="38100" dir="5400000" algn="bl" rotWithShape="0">
              <a:srgbClr val="3A2317">
                <a:alpha val="25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6629400" y="1874520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100" dirty="0">
                <a:solidFill>
                  <a:srgbClr val="8C3F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OBJECTIVES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6629400" y="2331720"/>
            <a:ext cx="4754880" cy="3749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15000"/>
              </a:lnSpc>
              <a:spcAft>
                <a:spcPts val="1100"/>
              </a:spcAft>
              <a:buSzPct val="100000"/>
              <a:buChar char="•"/>
            </a:pPr>
            <a:r>
              <a:rPr lang="en-US" sz="1350" dirty="0">
                <a:solidFill>
                  <a:srgbClr val="3A23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an interactive dashboard summarising key e-commerce metrics</a:t>
            </a:r>
            <a:endParaRPr lang="en-US" sz="1350" dirty="0"/>
          </a:p>
          <a:p>
            <a:pPr marL="342900" indent="-342900">
              <a:lnSpc>
                <a:spcPct val="115000"/>
              </a:lnSpc>
              <a:spcAft>
                <a:spcPts val="1100"/>
              </a:spcAft>
              <a:buSzPct val="100000"/>
              <a:buChar char="•"/>
            </a:pPr>
            <a:r>
              <a:rPr lang="en-US" sz="1350" dirty="0">
                <a:solidFill>
                  <a:srgbClr val="3A23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Analyse revenue trends and period-over-period patterns</a:t>
            </a:r>
            <a:endParaRPr lang="en-US" sz="1350" dirty="0"/>
          </a:p>
          <a:p>
            <a:pPr marL="342900" indent="-342900">
              <a:lnSpc>
                <a:spcPct val="115000"/>
              </a:lnSpc>
              <a:spcAft>
                <a:spcPts val="1100"/>
              </a:spcAft>
              <a:buSzPct val="100000"/>
              <a:buChar char="•"/>
            </a:pPr>
            <a:r>
              <a:rPr lang="en-US" sz="1350" dirty="0">
                <a:solidFill>
                  <a:srgbClr val="3A23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Evaluate category and product-level contribution to revenue</a:t>
            </a:r>
            <a:endParaRPr lang="en-US" sz="1350" dirty="0"/>
          </a:p>
          <a:p>
            <a:pPr marL="342900" indent="-342900">
              <a:lnSpc>
                <a:spcPct val="115000"/>
              </a:lnSpc>
              <a:spcAft>
                <a:spcPts val="1100"/>
              </a:spcAft>
              <a:buSzPct val="100000"/>
              <a:buChar char="•"/>
            </a:pPr>
            <a:r>
              <a:rPr lang="en-US" sz="1350" dirty="0">
                <a:solidFill>
                  <a:srgbClr val="3A23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Assess conversion performance by traffic source and device</a:t>
            </a:r>
            <a:endParaRPr lang="en-US" sz="1350" dirty="0"/>
          </a:p>
          <a:p>
            <a:pPr marL="342900" indent="-342900">
              <a:lnSpc>
                <a:spcPct val="115000"/>
              </a:lnSpc>
              <a:spcAft>
                <a:spcPts val="1100"/>
              </a:spcAft>
              <a:buSzPct val="100000"/>
              <a:buChar char="•"/>
            </a:pPr>
            <a:r>
              <a:rPr lang="en-US" sz="1350" dirty="0">
                <a:solidFill>
                  <a:srgbClr val="3A23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Enable drill-down by date, category, source, and device</a:t>
            </a:r>
            <a:endParaRPr lang="en-US" sz="1350" dirty="0"/>
          </a:p>
          <a:p>
            <a:pPr marL="342900" indent="-342900">
              <a:lnSpc>
                <a:spcPct val="115000"/>
              </a:lnSpc>
              <a:spcAft>
                <a:spcPts val="1100"/>
              </a:spcAft>
              <a:buSzPct val="100000"/>
              <a:buChar char="•"/>
            </a:pPr>
            <a:r>
              <a:rPr lang="en-US" sz="1350" dirty="0">
                <a:solidFill>
                  <a:srgbClr val="3A23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Derive recommendations to improve conversion and stabilise revenue</a:t>
            </a:r>
            <a:endParaRPr lang="en-US" sz="135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A5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E-Commerce Performance Analytics Dashboard</a:t>
            </a:r>
            <a:endParaRPr lang="en-US" sz="1000" dirty="0"/>
          </a:p>
        </p:txBody>
      </p:sp>
      <p:sp>
        <p:nvSpPr>
          <p:cNvPr id="12" name="Text 10"/>
          <p:cNvSpPr txBox="1"/>
          <p:nvPr/>
        </p:nvSpPr>
        <p:spPr>
          <a:xfrm>
            <a:off x="11521440" y="6528816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A5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2377440" cy="329184"/>
          </a:xfrm>
          <a:prstGeom prst="roundRect">
            <a:avLst>
              <a:gd name="adj" fmla="val 22222"/>
            </a:avLst>
          </a:prstGeom>
          <a:solidFill>
            <a:srgbClr val="B5551D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411480"/>
            <a:ext cx="23774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METHODOLOGY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868680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3A23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Tools, Data Model &amp; Analytics Workflow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691640"/>
            <a:ext cx="5120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100" dirty="0">
                <a:solidFill>
                  <a:srgbClr val="8C3F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 &amp; TECHNOLOGIES</a:t>
            </a:r>
            <a:endParaRPr lang="en-US" sz="13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7402989"/>
              </p:ext>
            </p:extLst>
          </p:nvPr>
        </p:nvGraphicFramePr>
        <p:xfrm>
          <a:off x="457200" y="2011680"/>
          <a:ext cx="5120640" cy="2514600"/>
        </p:xfrm>
        <a:graphic>
          <a:graphicData uri="http://schemas.openxmlformats.org/drawingml/2006/table">
            <a:tbl>
              <a:tblPr/>
              <a:tblGrid>
                <a:gridCol w="19202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00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Category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EACB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ACB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ACB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ACB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241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Tool / Technology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EACB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ACB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ACB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ACB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241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3A231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BI / Visualisation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EACB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ACB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ACB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ACB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D9C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3A231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Power </a:t>
                      </a:r>
                      <a:r>
                        <a:rPr lang="en-US" sz="1250" dirty="0" smtClean="0">
                          <a:solidFill>
                            <a:srgbClr val="3A231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BI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EACB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ACB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ACB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ACB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D9C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3A231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 Preparation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EACB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ACB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ACB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ACB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EE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 smtClean="0">
                          <a:solidFill>
                            <a:srgbClr val="3A231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Excel 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EACB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ACB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ACB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ACB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EE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3A231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 Source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EACB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ACB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ACB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ACB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D9C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3A231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E-commerce transactional dataset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EACB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ACB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ACB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ACB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D9C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3A231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Documentation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EACB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ACB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ACB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ACB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EE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3A231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Microsoft Word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EACB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ACB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ACB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ACB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EE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7" name="Text 4"/>
          <p:cNvSpPr txBox="1"/>
          <p:nvPr/>
        </p:nvSpPr>
        <p:spPr>
          <a:xfrm>
            <a:off x="6126480" y="1691640"/>
            <a:ext cx="5577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100" dirty="0">
                <a:solidFill>
                  <a:srgbClr val="8C3F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ANALYTICS WORKFLOW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6126480" y="2057400"/>
            <a:ext cx="457200" cy="457200"/>
          </a:xfrm>
          <a:prstGeom prst="ellipse">
            <a:avLst/>
          </a:prstGeom>
          <a:solidFill>
            <a:srgbClr val="B5551D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6126480" y="20574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10" name="Text 7"/>
          <p:cNvSpPr txBox="1"/>
          <p:nvPr/>
        </p:nvSpPr>
        <p:spPr>
          <a:xfrm>
            <a:off x="6766560" y="2002536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3A23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Collection</a:t>
            </a:r>
            <a:endParaRPr lang="en-US" sz="1400" dirty="0"/>
          </a:p>
        </p:txBody>
      </p:sp>
      <p:sp>
        <p:nvSpPr>
          <p:cNvPr id="11" name="Text 8"/>
          <p:cNvSpPr txBox="1"/>
          <p:nvPr/>
        </p:nvSpPr>
        <p:spPr>
          <a:xfrm>
            <a:off x="6766560" y="2276856"/>
            <a:ext cx="4892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7A5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Orders, revenue, traffic source, device, category, date</a:t>
            </a:r>
            <a:endParaRPr lang="en-US" sz="1150" dirty="0"/>
          </a:p>
        </p:txBody>
      </p:sp>
      <p:sp>
        <p:nvSpPr>
          <p:cNvPr id="12" name="Shape 9"/>
          <p:cNvSpPr/>
          <p:nvPr/>
        </p:nvSpPr>
        <p:spPr>
          <a:xfrm>
            <a:off x="6126480" y="2852928"/>
            <a:ext cx="457200" cy="457200"/>
          </a:xfrm>
          <a:prstGeom prst="ellipse">
            <a:avLst/>
          </a:prstGeom>
          <a:solidFill>
            <a:srgbClr val="B5551D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6126480" y="285292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4" name="Text 11"/>
          <p:cNvSpPr txBox="1"/>
          <p:nvPr/>
        </p:nvSpPr>
        <p:spPr>
          <a:xfrm>
            <a:off x="6766560" y="2798064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3A23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Cleaning &amp; Prep</a:t>
            </a:r>
            <a:endParaRPr lang="en-US" sz="1400" dirty="0"/>
          </a:p>
        </p:txBody>
      </p:sp>
      <p:sp>
        <p:nvSpPr>
          <p:cNvPr id="15" name="Text 12"/>
          <p:cNvSpPr txBox="1"/>
          <p:nvPr/>
        </p:nvSpPr>
        <p:spPr>
          <a:xfrm>
            <a:off x="6766560" y="3072384"/>
            <a:ext cx="4892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7A5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Handle missing values, standardise labels, structure dates</a:t>
            </a:r>
            <a:endParaRPr lang="en-US" sz="1150" dirty="0"/>
          </a:p>
        </p:txBody>
      </p:sp>
      <p:sp>
        <p:nvSpPr>
          <p:cNvPr id="16" name="Shape 13"/>
          <p:cNvSpPr/>
          <p:nvPr/>
        </p:nvSpPr>
        <p:spPr>
          <a:xfrm>
            <a:off x="6126480" y="3648456"/>
            <a:ext cx="457200" cy="457200"/>
          </a:xfrm>
          <a:prstGeom prst="ellipse">
            <a:avLst/>
          </a:prstGeom>
          <a:solidFill>
            <a:srgbClr val="B5551D"/>
          </a:solidFill>
          <a:ln/>
        </p:spPr>
      </p:sp>
      <p:sp>
        <p:nvSpPr>
          <p:cNvPr id="17" name="Text 14"/>
          <p:cNvSpPr txBox="1"/>
          <p:nvPr/>
        </p:nvSpPr>
        <p:spPr>
          <a:xfrm>
            <a:off x="6126480" y="3648456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8" name="Text 15"/>
          <p:cNvSpPr txBox="1"/>
          <p:nvPr/>
        </p:nvSpPr>
        <p:spPr>
          <a:xfrm>
            <a:off x="6766560" y="3593592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3A23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 Definition</a:t>
            </a:r>
            <a:endParaRPr lang="en-US" sz="1400" dirty="0"/>
          </a:p>
        </p:txBody>
      </p:sp>
      <p:sp>
        <p:nvSpPr>
          <p:cNvPr id="19" name="Text 16"/>
          <p:cNvSpPr txBox="1"/>
          <p:nvPr/>
        </p:nvSpPr>
        <p:spPr>
          <a:xfrm>
            <a:off x="6766560" y="3867912"/>
            <a:ext cx="4892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7A5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Revenue, Conversion %, AOV, Add-to-Cart %, Checkout %</a:t>
            </a:r>
            <a:endParaRPr lang="en-US" sz="1150" dirty="0"/>
          </a:p>
        </p:txBody>
      </p:sp>
      <p:sp>
        <p:nvSpPr>
          <p:cNvPr id="20" name="Shape 17"/>
          <p:cNvSpPr/>
          <p:nvPr/>
        </p:nvSpPr>
        <p:spPr>
          <a:xfrm>
            <a:off x="6126480" y="4443984"/>
            <a:ext cx="457200" cy="457200"/>
          </a:xfrm>
          <a:prstGeom prst="ellipse">
            <a:avLst/>
          </a:prstGeom>
          <a:solidFill>
            <a:srgbClr val="B5551D"/>
          </a:solidFill>
          <a:ln/>
        </p:spPr>
      </p:sp>
      <p:sp>
        <p:nvSpPr>
          <p:cNvPr id="21" name="Text 18"/>
          <p:cNvSpPr txBox="1"/>
          <p:nvPr/>
        </p:nvSpPr>
        <p:spPr>
          <a:xfrm>
            <a:off x="6126480" y="4443984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22" name="Text 19"/>
          <p:cNvSpPr txBox="1"/>
          <p:nvPr/>
        </p:nvSpPr>
        <p:spPr>
          <a:xfrm>
            <a:off x="6766560" y="4389120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3A23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Design</a:t>
            </a:r>
            <a:endParaRPr lang="en-US" sz="1400" dirty="0"/>
          </a:p>
        </p:txBody>
      </p:sp>
      <p:sp>
        <p:nvSpPr>
          <p:cNvPr id="23" name="Text 20"/>
          <p:cNvSpPr txBox="1"/>
          <p:nvPr/>
        </p:nvSpPr>
        <p:spPr>
          <a:xfrm>
            <a:off x="6766560" y="4663440"/>
            <a:ext cx="4892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7A5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 strip, trend charts, category &amp; funnel visuals</a:t>
            </a:r>
            <a:endParaRPr lang="en-US" sz="1150" dirty="0"/>
          </a:p>
        </p:txBody>
      </p:sp>
      <p:sp>
        <p:nvSpPr>
          <p:cNvPr id="24" name="Shape 21"/>
          <p:cNvSpPr/>
          <p:nvPr/>
        </p:nvSpPr>
        <p:spPr>
          <a:xfrm>
            <a:off x="6126480" y="5239512"/>
            <a:ext cx="457200" cy="457200"/>
          </a:xfrm>
          <a:prstGeom prst="ellipse">
            <a:avLst/>
          </a:prstGeom>
          <a:solidFill>
            <a:srgbClr val="B5551D"/>
          </a:solidFill>
          <a:ln/>
        </p:spPr>
      </p:sp>
      <p:sp>
        <p:nvSpPr>
          <p:cNvPr id="25" name="Text 22"/>
          <p:cNvSpPr txBox="1"/>
          <p:nvPr/>
        </p:nvSpPr>
        <p:spPr>
          <a:xfrm>
            <a:off x="6126480" y="523951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26" name="Text 23"/>
          <p:cNvSpPr txBox="1"/>
          <p:nvPr/>
        </p:nvSpPr>
        <p:spPr>
          <a:xfrm>
            <a:off x="6766560" y="5184648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3A23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Interactivity</a:t>
            </a:r>
            <a:endParaRPr lang="en-US" sz="1400" dirty="0"/>
          </a:p>
        </p:txBody>
      </p:sp>
      <p:sp>
        <p:nvSpPr>
          <p:cNvPr id="27" name="Text 24"/>
          <p:cNvSpPr txBox="1"/>
          <p:nvPr/>
        </p:nvSpPr>
        <p:spPr>
          <a:xfrm>
            <a:off x="6766560" y="5458968"/>
            <a:ext cx="4892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7A5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Slicers for Source, Device, Category, and Date</a:t>
            </a:r>
            <a:endParaRPr lang="en-US" sz="1150" dirty="0"/>
          </a:p>
        </p:txBody>
      </p:sp>
      <p:sp>
        <p:nvSpPr>
          <p:cNvPr id="28" name="Text 25"/>
          <p:cNvSpPr txBox="1"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A5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E-Commerce Performance Analytics Dashboard</a:t>
            </a:r>
            <a:endParaRPr lang="en-US" sz="1000" dirty="0"/>
          </a:p>
        </p:txBody>
      </p:sp>
      <p:sp>
        <p:nvSpPr>
          <p:cNvPr id="29" name="Text 26"/>
          <p:cNvSpPr txBox="1"/>
          <p:nvPr/>
        </p:nvSpPr>
        <p:spPr>
          <a:xfrm>
            <a:off x="11521440" y="6528816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A5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4A2418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182880"/>
            <a:ext cx="7315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Dashboard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18872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7A5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interactive view — KPI strip, filters, and six analytical charts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1804211" y="1554480"/>
            <a:ext cx="8580530" cy="4855464"/>
          </a:xfrm>
          <a:prstGeom prst="roundRect">
            <a:avLst>
              <a:gd name="adj" fmla="val 1130"/>
            </a:avLst>
          </a:prstGeom>
          <a:solidFill>
            <a:srgbClr val="FFFFFF"/>
          </a:solidFill>
          <a:ln w="12700">
            <a:solidFill>
              <a:srgbClr val="EACBAF"/>
            </a:solidFill>
            <a:prstDash val="solid"/>
          </a:ln>
          <a:effectLst>
            <a:outerShdw blurRad="76200" dist="38100" dir="5400000" algn="bl" rotWithShape="0">
              <a:srgbClr val="3A2317">
                <a:alpha val="25000"/>
              </a:srgbClr>
            </a:outerShdw>
          </a:effectLst>
        </p:spPr>
      </p:sp>
      <p:pic>
        <p:nvPicPr>
          <p:cNvPr id="6" name="Image 0" descr="/home/claude/ppt/dashboard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77363" y="1627632"/>
            <a:ext cx="8434226" cy="470916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A5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E-Commerce Performance Analytics Dashboard</a:t>
            </a:r>
            <a:endParaRPr lang="en-US" sz="1000" dirty="0"/>
          </a:p>
        </p:txBody>
      </p:sp>
      <p:sp>
        <p:nvSpPr>
          <p:cNvPr id="8" name="Text 5"/>
          <p:cNvSpPr txBox="1"/>
          <p:nvPr/>
        </p:nvSpPr>
        <p:spPr>
          <a:xfrm>
            <a:off x="11521440" y="6528816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A5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2377440" cy="329184"/>
          </a:xfrm>
          <a:prstGeom prst="roundRect">
            <a:avLst>
              <a:gd name="adj" fmla="val 22222"/>
            </a:avLst>
          </a:prstGeom>
          <a:solidFill>
            <a:srgbClr val="B5551D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411480"/>
            <a:ext cx="23774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 SUMMARY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868680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3A23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Five Headline Metrics at a Glance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874520"/>
            <a:ext cx="2121408" cy="3566160"/>
          </a:xfrm>
          <a:prstGeom prst="roundRect">
            <a:avLst>
              <a:gd name="adj" fmla="val 4310"/>
            </a:avLst>
          </a:prstGeom>
          <a:solidFill>
            <a:srgbClr val="F3D9C4"/>
          </a:solidFill>
          <a:ln/>
          <a:effectLst>
            <a:outerShdw blurRad="76200" dist="38100" dir="5400000" algn="bl" rotWithShape="0">
              <a:srgbClr val="3A2317">
                <a:alpha val="25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457200" y="2331720"/>
            <a:ext cx="2121408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4A24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₹8.71M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1152144" y="3383280"/>
            <a:ext cx="731520" cy="0"/>
          </a:xfrm>
          <a:prstGeom prst="line">
            <a:avLst/>
          </a:prstGeom>
          <a:noFill/>
          <a:ln w="19050">
            <a:solidFill>
              <a:srgbClr val="B5551D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94360" y="3566160"/>
            <a:ext cx="184708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3A23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Revenue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621792" y="4160520"/>
            <a:ext cx="1792224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100" dirty="0">
                <a:solidFill>
                  <a:srgbClr val="7A5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Cumulative revenue across the analysis period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779776" y="1874520"/>
            <a:ext cx="2121408" cy="3566160"/>
          </a:xfrm>
          <a:prstGeom prst="roundRect">
            <a:avLst>
              <a:gd name="adj" fmla="val 4310"/>
            </a:avLst>
          </a:prstGeom>
          <a:solidFill>
            <a:srgbClr val="F3D9C4"/>
          </a:solidFill>
          <a:ln/>
          <a:effectLst>
            <a:outerShdw blurRad="76200" dist="38100" dir="5400000" algn="bl" rotWithShape="0">
              <a:srgbClr val="3A2317">
                <a:alpha val="25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2779776" y="2331720"/>
            <a:ext cx="2121408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4A24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94.17%</a:t>
            </a:r>
            <a:endParaRPr lang="en-US" sz="3000" dirty="0"/>
          </a:p>
        </p:txBody>
      </p:sp>
      <p:sp>
        <p:nvSpPr>
          <p:cNvPr id="12" name="Shape 10"/>
          <p:cNvSpPr/>
          <p:nvPr/>
        </p:nvSpPr>
        <p:spPr>
          <a:xfrm>
            <a:off x="3474720" y="3383280"/>
            <a:ext cx="731520" cy="0"/>
          </a:xfrm>
          <a:prstGeom prst="line">
            <a:avLst/>
          </a:prstGeom>
          <a:noFill/>
          <a:ln w="19050">
            <a:solidFill>
              <a:srgbClr val="B5551D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2916936" y="3566160"/>
            <a:ext cx="184708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3A23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Purchase Conversion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2944368" y="4160520"/>
            <a:ext cx="1792224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100" dirty="0">
                <a:solidFill>
                  <a:srgbClr val="7A5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Very high conversion once checkout is initiated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102352" y="1874520"/>
            <a:ext cx="2121408" cy="3566160"/>
          </a:xfrm>
          <a:prstGeom prst="roundRect">
            <a:avLst>
              <a:gd name="adj" fmla="val 4310"/>
            </a:avLst>
          </a:prstGeom>
          <a:solidFill>
            <a:srgbClr val="F3D9C4"/>
          </a:solidFill>
          <a:ln/>
          <a:effectLst>
            <a:outerShdw blurRad="76200" dist="38100" dir="5400000" algn="bl" rotWithShape="0">
              <a:srgbClr val="3A2317">
                <a:alpha val="25000"/>
              </a:srgbClr>
            </a:outerShdw>
          </a:effectLst>
        </p:spPr>
      </p:sp>
      <p:sp>
        <p:nvSpPr>
          <p:cNvPr id="16" name="Text 14"/>
          <p:cNvSpPr txBox="1"/>
          <p:nvPr/>
        </p:nvSpPr>
        <p:spPr>
          <a:xfrm>
            <a:off x="5102352" y="2331720"/>
            <a:ext cx="2121408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4A24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₹7.72K</a:t>
            </a:r>
            <a:endParaRPr lang="en-US" sz="3000" dirty="0"/>
          </a:p>
        </p:txBody>
      </p:sp>
      <p:sp>
        <p:nvSpPr>
          <p:cNvPr id="17" name="Shape 15"/>
          <p:cNvSpPr/>
          <p:nvPr/>
        </p:nvSpPr>
        <p:spPr>
          <a:xfrm>
            <a:off x="5797296" y="3383280"/>
            <a:ext cx="731520" cy="0"/>
          </a:xfrm>
          <a:prstGeom prst="line">
            <a:avLst/>
          </a:prstGeom>
          <a:noFill/>
          <a:ln w="19050">
            <a:solidFill>
              <a:srgbClr val="B5551D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5239512" y="3566160"/>
            <a:ext cx="184708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3A23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Order Value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5266944" y="4160520"/>
            <a:ext cx="1792224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100" dirty="0">
                <a:solidFill>
                  <a:srgbClr val="7A5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revenue per completed order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7424928" y="1874520"/>
            <a:ext cx="2121408" cy="3566160"/>
          </a:xfrm>
          <a:prstGeom prst="roundRect">
            <a:avLst>
              <a:gd name="adj" fmla="val 4310"/>
            </a:avLst>
          </a:prstGeom>
          <a:solidFill>
            <a:srgbClr val="F3D9C4"/>
          </a:solidFill>
          <a:ln/>
          <a:effectLst>
            <a:outerShdw blurRad="76200" dist="38100" dir="5400000" algn="bl" rotWithShape="0">
              <a:srgbClr val="3A2317">
                <a:alpha val="25000"/>
              </a:srgbClr>
            </a:outerShdw>
          </a:effectLst>
        </p:spPr>
      </p:sp>
      <p:sp>
        <p:nvSpPr>
          <p:cNvPr id="21" name="Text 19"/>
          <p:cNvSpPr txBox="1"/>
          <p:nvPr/>
        </p:nvSpPr>
        <p:spPr>
          <a:xfrm>
            <a:off x="7424928" y="2331720"/>
            <a:ext cx="2121408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4A24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1.94%</a:t>
            </a:r>
            <a:endParaRPr lang="en-US" sz="3000" dirty="0"/>
          </a:p>
        </p:txBody>
      </p:sp>
      <p:sp>
        <p:nvSpPr>
          <p:cNvPr id="22" name="Shape 20"/>
          <p:cNvSpPr/>
          <p:nvPr/>
        </p:nvSpPr>
        <p:spPr>
          <a:xfrm>
            <a:off x="8119872" y="3383280"/>
            <a:ext cx="731520" cy="0"/>
          </a:xfrm>
          <a:prstGeom prst="line">
            <a:avLst/>
          </a:prstGeom>
          <a:noFill/>
          <a:ln w="19050">
            <a:solidFill>
              <a:srgbClr val="B5551D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7562088" y="3566160"/>
            <a:ext cx="184708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3A23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Add-to-Cart Rate</a:t>
            </a:r>
            <a:endParaRPr lang="en-US" sz="1400" dirty="0"/>
          </a:p>
        </p:txBody>
      </p:sp>
      <p:sp>
        <p:nvSpPr>
          <p:cNvPr id="24" name="Text 22"/>
          <p:cNvSpPr txBox="1"/>
          <p:nvPr/>
        </p:nvSpPr>
        <p:spPr>
          <a:xfrm>
            <a:off x="7589520" y="4160520"/>
            <a:ext cx="1792224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100" dirty="0">
                <a:solidFill>
                  <a:srgbClr val="7A5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 of visitors who add a product to cart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9747504" y="1874520"/>
            <a:ext cx="2121408" cy="3566160"/>
          </a:xfrm>
          <a:prstGeom prst="roundRect">
            <a:avLst>
              <a:gd name="adj" fmla="val 4310"/>
            </a:avLst>
          </a:prstGeom>
          <a:solidFill>
            <a:srgbClr val="B5551D"/>
          </a:solidFill>
          <a:ln/>
          <a:effectLst>
            <a:outerShdw blurRad="76200" dist="38100" dir="5400000" algn="bl" rotWithShape="0">
              <a:srgbClr val="3A2317">
                <a:alpha val="25000"/>
              </a:srgbClr>
            </a:outerShdw>
          </a:effectLst>
        </p:spPr>
      </p:sp>
      <p:sp>
        <p:nvSpPr>
          <p:cNvPr id="26" name="Text 24"/>
          <p:cNvSpPr txBox="1"/>
          <p:nvPr/>
        </p:nvSpPr>
        <p:spPr>
          <a:xfrm>
            <a:off x="9747504" y="2331720"/>
            <a:ext cx="2121408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135.71%</a:t>
            </a:r>
            <a:endParaRPr lang="en-US" sz="3000" dirty="0"/>
          </a:p>
        </p:txBody>
      </p:sp>
      <p:sp>
        <p:nvSpPr>
          <p:cNvPr id="27" name="Shape 25"/>
          <p:cNvSpPr/>
          <p:nvPr/>
        </p:nvSpPr>
        <p:spPr>
          <a:xfrm>
            <a:off x="10442448" y="3383280"/>
            <a:ext cx="731520" cy="0"/>
          </a:xfrm>
          <a:prstGeom prst="line">
            <a:avLst/>
          </a:prstGeom>
          <a:noFill/>
          <a:ln w="19050">
            <a:solidFill>
              <a:srgbClr val="FFFFFF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9884664" y="3566160"/>
            <a:ext cx="184708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Checkout Rate</a:t>
            </a:r>
            <a:endParaRPr lang="en-US" sz="1400" dirty="0"/>
          </a:p>
        </p:txBody>
      </p:sp>
      <p:sp>
        <p:nvSpPr>
          <p:cNvPr id="29" name="Text 27"/>
          <p:cNvSpPr txBox="1"/>
          <p:nvPr/>
        </p:nvSpPr>
        <p:spPr>
          <a:xfrm>
            <a:off x="9912096" y="4160520"/>
            <a:ext cx="1792224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100" dirty="0">
                <a:solidFill>
                  <a:srgbClr val="FBE3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Flagged as a data-quality anomaly</a:t>
            </a:r>
            <a:endParaRPr lang="en-US" sz="1100" dirty="0"/>
          </a:p>
        </p:txBody>
      </p:sp>
      <p:sp>
        <p:nvSpPr>
          <p:cNvPr id="30" name="Text 28"/>
          <p:cNvSpPr txBox="1"/>
          <p:nvPr/>
        </p:nvSpPr>
        <p:spPr>
          <a:xfrm>
            <a:off x="457200" y="562356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8C3F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Checkout Rate exceeds the logical 100% ceiling — see Challenges &amp; Limitations.</a:t>
            </a:r>
            <a:endParaRPr lang="en-US" sz="1200" dirty="0"/>
          </a:p>
        </p:txBody>
      </p:sp>
      <p:sp>
        <p:nvSpPr>
          <p:cNvPr id="31" name="Text 29"/>
          <p:cNvSpPr txBox="1"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A5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E-Commerce Performance Analytics Dashboard</a:t>
            </a:r>
            <a:endParaRPr lang="en-US" sz="1000" dirty="0"/>
          </a:p>
        </p:txBody>
      </p:sp>
      <p:sp>
        <p:nvSpPr>
          <p:cNvPr id="32" name="Text 30"/>
          <p:cNvSpPr txBox="1"/>
          <p:nvPr/>
        </p:nvSpPr>
        <p:spPr>
          <a:xfrm>
            <a:off x="11521440" y="6528816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A5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2377440" cy="329184"/>
          </a:xfrm>
          <a:prstGeom prst="roundRect">
            <a:avLst>
              <a:gd name="adj" fmla="val 22222"/>
            </a:avLst>
          </a:prstGeom>
          <a:solidFill>
            <a:srgbClr val="B5551D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411480"/>
            <a:ext cx="23774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ANALYSIS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868680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3A23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Revenue Trend Is Declining; Furniture Leads the Category Mix</a:t>
            </a:r>
            <a:endParaRPr lang="en-US" sz="24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6459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8C3F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REVENUE TREND (₹M)</a:t>
            </a:r>
            <a:endParaRPr lang="en-US" sz="1200" dirty="0"/>
          </a:p>
        </p:txBody>
      </p:sp>
      <p:graphicFrame>
        <p:nvGraphicFramePr>
          <p:cNvPr id="6" name="Chart 0"/>
          <p:cNvGraphicFramePr/>
          <p:nvPr/>
        </p:nvGraphicFramePr>
        <p:xfrm>
          <a:off x="457200" y="1965960"/>
          <a:ext cx="5486400" cy="41148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7" name="Text 4"/>
          <p:cNvSpPr txBox="1"/>
          <p:nvPr/>
        </p:nvSpPr>
        <p:spPr>
          <a:xfrm>
            <a:off x="6263640" y="16459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8C3F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BY CATEGORY</a:t>
            </a:r>
            <a:endParaRPr lang="en-US" sz="1200" dirty="0"/>
          </a:p>
        </p:txBody>
      </p:sp>
      <p:graphicFrame>
        <p:nvGraphicFramePr>
          <p:cNvPr id="8" name="Chart 1"/>
          <p:cNvGraphicFramePr/>
          <p:nvPr/>
        </p:nvGraphicFramePr>
        <p:xfrm>
          <a:off x="6263640" y="1965960"/>
          <a:ext cx="5486400" cy="41148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9" name="Text 5"/>
          <p:cNvSpPr txBox="1"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A5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E-Commerce Performance Analytics Dashboard</a:t>
            </a:r>
            <a:endParaRPr lang="en-US" sz="1000" dirty="0"/>
          </a:p>
        </p:txBody>
      </p:sp>
      <p:sp>
        <p:nvSpPr>
          <p:cNvPr id="10" name="Text 6"/>
          <p:cNvSpPr txBox="1"/>
          <p:nvPr/>
        </p:nvSpPr>
        <p:spPr>
          <a:xfrm>
            <a:off x="11521440" y="6528816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A5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2377440" cy="329184"/>
          </a:xfrm>
          <a:prstGeom prst="roundRect">
            <a:avLst>
              <a:gd name="adj" fmla="val 22222"/>
            </a:avLst>
          </a:prstGeom>
          <a:solidFill>
            <a:srgbClr val="B5551D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411480"/>
            <a:ext cx="23774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&amp; CHANNEL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868680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3A23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Furniture Products Lead Revenue; Email &amp; Direct Convert Best</a:t>
            </a:r>
            <a:endParaRPr lang="en-US" sz="23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6459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8C3F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PRODUCTS BY REVENUE (₹M)</a:t>
            </a:r>
            <a:endParaRPr lang="en-US" sz="1200" dirty="0"/>
          </a:p>
        </p:txBody>
      </p:sp>
      <p:graphicFrame>
        <p:nvGraphicFramePr>
          <p:cNvPr id="6" name="Chart 0"/>
          <p:cNvGraphicFramePr/>
          <p:nvPr/>
        </p:nvGraphicFramePr>
        <p:xfrm>
          <a:off x="457200" y="1965960"/>
          <a:ext cx="5486400" cy="41148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7" name="Text 4"/>
          <p:cNvSpPr txBox="1"/>
          <p:nvPr/>
        </p:nvSpPr>
        <p:spPr>
          <a:xfrm>
            <a:off x="6263640" y="16459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8C3F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PURCHASE CONVERSION BY TRAFFIC SOURCE</a:t>
            </a:r>
            <a:endParaRPr lang="en-US" sz="1200" dirty="0"/>
          </a:p>
        </p:txBody>
      </p:sp>
      <p:graphicFrame>
        <p:nvGraphicFramePr>
          <p:cNvPr id="8" name="Chart 1"/>
          <p:cNvGraphicFramePr/>
          <p:nvPr/>
        </p:nvGraphicFramePr>
        <p:xfrm>
          <a:off x="6263640" y="1965960"/>
          <a:ext cx="5486400" cy="41148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9" name="Text 5"/>
          <p:cNvSpPr txBox="1"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A5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E-Commerce Performance Analytics Dashboard</a:t>
            </a:r>
            <a:endParaRPr lang="en-US" sz="1000" dirty="0"/>
          </a:p>
        </p:txBody>
      </p:sp>
      <p:sp>
        <p:nvSpPr>
          <p:cNvPr id="10" name="Text 6"/>
          <p:cNvSpPr txBox="1"/>
          <p:nvPr/>
        </p:nvSpPr>
        <p:spPr>
          <a:xfrm>
            <a:off x="11521440" y="6528816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A5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2377440" cy="329184"/>
          </a:xfrm>
          <a:prstGeom prst="roundRect">
            <a:avLst>
              <a:gd name="adj" fmla="val 22222"/>
            </a:avLst>
          </a:prstGeom>
          <a:solidFill>
            <a:srgbClr val="B5551D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411480"/>
            <a:ext cx="23774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FINDINGS &amp; RISKS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868680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3A23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the Data Tells Us — and Where to Be Cautious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57200" y="1645920"/>
            <a:ext cx="5577840" cy="4572000"/>
          </a:xfrm>
          <a:prstGeom prst="roundRect">
            <a:avLst>
              <a:gd name="adj" fmla="val 2400"/>
            </a:avLst>
          </a:prstGeom>
          <a:solidFill>
            <a:srgbClr val="F3D9C4"/>
          </a:solidFill>
          <a:ln/>
          <a:effectLst>
            <a:outerShdw blurRad="76200" dist="38100" dir="5400000" algn="bl" rotWithShape="0">
              <a:srgbClr val="3A2317">
                <a:alpha val="25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777240" y="1874520"/>
            <a:ext cx="4937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100" dirty="0">
                <a:solidFill>
                  <a:srgbClr val="8C3F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FINDINGS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2286000"/>
            <a:ext cx="4937760" cy="3749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20000"/>
              </a:lnSpc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3A23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Furniture &amp; Electronics drive over 54% of total revenue</a:t>
            </a:r>
            <a:endParaRPr lang="en-US" sz="1350" dirty="0"/>
          </a:p>
          <a:p>
            <a:pPr marL="342900" indent="-342900">
              <a:lnSpc>
                <a:spcPct val="120000"/>
              </a:lnSpc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3A23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declined steadily across the 6-month window, ₹1.6M → ₹1.38M</a:t>
            </a:r>
            <a:endParaRPr lang="en-US" sz="1350" dirty="0"/>
          </a:p>
          <a:p>
            <a:pPr marL="342900" indent="-342900">
              <a:lnSpc>
                <a:spcPct val="120000"/>
              </a:lnSpc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3A23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94.17% conversion shows late-funnel customers reliably purchase</a:t>
            </a:r>
            <a:endParaRPr lang="en-US" sz="1350" dirty="0"/>
          </a:p>
          <a:p>
            <a:pPr marL="342900" indent="-342900">
              <a:lnSpc>
                <a:spcPct val="120000"/>
              </a:lnSpc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3A23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1.94% Add-to-Cart rate shows the biggest drop-off is early on</a:t>
            </a:r>
            <a:endParaRPr lang="en-US" sz="1350" dirty="0"/>
          </a:p>
          <a:p>
            <a:pPr marL="342900" indent="-342900">
              <a:lnSpc>
                <a:spcPct val="120000"/>
              </a:lnSpc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3A23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 &amp; Email convert best; Referral trails the other channels</a:t>
            </a:r>
            <a:endParaRPr lang="en-US" sz="1350" dirty="0"/>
          </a:p>
          <a:p>
            <a:pPr marL="342900" indent="-342900">
              <a:lnSpc>
                <a:spcPct val="120000"/>
              </a:lnSpc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3A23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Study Table and Office Chair are the top two revenue products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6263640" y="1645920"/>
            <a:ext cx="5468112" cy="4572000"/>
          </a:xfrm>
          <a:prstGeom prst="roundRect">
            <a:avLst>
              <a:gd name="adj" fmla="val 2400"/>
            </a:avLst>
          </a:prstGeom>
          <a:solidFill>
            <a:srgbClr val="4A2418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6583680" y="1874520"/>
            <a:ext cx="4846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100" dirty="0">
                <a:solidFill>
                  <a:srgbClr val="D98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CHALLENGES &amp; LIMITATIONS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6583680" y="2286000"/>
            <a:ext cx="4846320" cy="3749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20000"/>
              </a:lnSpc>
              <a:spcAft>
                <a:spcPts val="13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Checkout Rate (135.71%) exceeds a logical 100% — likely a denominator or duplicate-count error</a:t>
            </a:r>
            <a:endParaRPr lang="en-US" sz="1300" dirty="0"/>
          </a:p>
          <a:p>
            <a:pPr marL="342900" indent="-342900">
              <a:lnSpc>
                <a:spcPct val="120000"/>
              </a:lnSpc>
              <a:spcAft>
                <a:spcPts val="13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trend labels are not in chronological order, complicating interpretation</a:t>
            </a:r>
            <a:endParaRPr lang="en-US" sz="1300" dirty="0"/>
          </a:p>
          <a:p>
            <a:pPr marL="342900" indent="-342900">
              <a:lnSpc>
                <a:spcPct val="120000"/>
              </a:lnSpc>
              <a:spcAft>
                <a:spcPts val="13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a 6-month window limits visibility into longer seasonal patterns</a:t>
            </a:r>
            <a:endParaRPr lang="en-US" sz="1300" dirty="0"/>
          </a:p>
          <a:p>
            <a:pPr marL="342900" indent="-342900">
              <a:lnSpc>
                <a:spcPct val="120000"/>
              </a:lnSpc>
              <a:spcAft>
                <a:spcPts val="13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Some filter categories are truncated in the UI (e.g. “Beauty ...”)</a:t>
            </a:r>
            <a:endParaRPr lang="en-US" sz="1300" dirty="0"/>
          </a:p>
          <a:p>
            <a:pPr marL="342900" indent="-342900">
              <a:lnSpc>
                <a:spcPct val="120000"/>
              </a:lnSpc>
              <a:spcAft>
                <a:spcPts val="13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Analysis reflects a static, point-in-time snapshot, not a live feed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A5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E-Commerce Performance Analytics Dashboard</a:t>
            </a:r>
            <a:endParaRPr lang="en-US" sz="1000" dirty="0"/>
          </a:p>
        </p:txBody>
      </p:sp>
      <p:sp>
        <p:nvSpPr>
          <p:cNvPr id="12" name="Text 10"/>
          <p:cNvSpPr txBox="1"/>
          <p:nvPr/>
        </p:nvSpPr>
        <p:spPr>
          <a:xfrm>
            <a:off x="11521440" y="6528816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A5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4A2418"/>
          </a:solidFill>
          <a:ln/>
        </p:spPr>
      </p:sp>
      <p:sp>
        <p:nvSpPr>
          <p:cNvPr id="3" name="Shape 1"/>
          <p:cNvSpPr/>
          <p:nvPr/>
        </p:nvSpPr>
        <p:spPr>
          <a:xfrm>
            <a:off x="-1463040" y="-1645920"/>
            <a:ext cx="4572000" cy="4572000"/>
          </a:xfrm>
          <a:prstGeom prst="ellipse">
            <a:avLst/>
          </a:prstGeom>
          <a:solidFill>
            <a:srgbClr val="8C3F14"/>
          </a:solidFill>
          <a:ln/>
        </p:spPr>
      </p:sp>
      <p:sp>
        <p:nvSpPr>
          <p:cNvPr id="4" name="Shape 2"/>
          <p:cNvSpPr/>
          <p:nvPr/>
        </p:nvSpPr>
        <p:spPr>
          <a:xfrm>
            <a:off x="10241280" y="4846320"/>
            <a:ext cx="4206240" cy="4206240"/>
          </a:xfrm>
          <a:prstGeom prst="ellipse">
            <a:avLst/>
          </a:prstGeom>
          <a:solidFill>
            <a:srgbClr val="8C3F14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40080" y="50292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Future Scope &amp; Conclusion</a:t>
            </a:r>
            <a:endParaRPr lang="en-US" sz="30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1371600"/>
            <a:ext cx="5669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100" dirty="0">
                <a:solidFill>
                  <a:srgbClr val="D98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RECOMMENDED NEXT STEPS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1783080"/>
            <a:ext cx="5669280" cy="4206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20000"/>
              </a:lnSpc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F3D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 the Checkout Rate logic; add automated KPI-validation checks</a:t>
            </a:r>
            <a:endParaRPr lang="en-US" sz="1350" dirty="0"/>
          </a:p>
          <a:p>
            <a:pPr marL="342900" indent="-342900">
              <a:lnSpc>
                <a:spcPct val="120000"/>
              </a:lnSpc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F3D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revenue forecasting with time-series predictive models</a:t>
            </a:r>
            <a:endParaRPr lang="en-US" sz="1350" dirty="0"/>
          </a:p>
          <a:p>
            <a:pPr marL="342900" indent="-342900">
              <a:lnSpc>
                <a:spcPct val="120000"/>
              </a:lnSpc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F3D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Visualise the full funnel: Visit → Cart → Checkout → Purchase</a:t>
            </a:r>
            <a:endParaRPr lang="en-US" sz="1350" dirty="0"/>
          </a:p>
          <a:p>
            <a:pPr marL="342900" indent="-342900">
              <a:lnSpc>
                <a:spcPct val="120000"/>
              </a:lnSpc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F3D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Introduce customer segmentation (new vs. returning, RFM)</a:t>
            </a:r>
            <a:endParaRPr lang="en-US" sz="1350" dirty="0"/>
          </a:p>
          <a:p>
            <a:pPr marL="342900" indent="-342900">
              <a:lnSpc>
                <a:spcPct val="120000"/>
              </a:lnSpc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F3D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 to live data for real-time refresh</a:t>
            </a:r>
            <a:endParaRPr lang="en-US" sz="1350" dirty="0"/>
          </a:p>
          <a:p>
            <a:pPr marL="342900" indent="-342900">
              <a:lnSpc>
                <a:spcPct val="120000"/>
              </a:lnSpc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F3D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Extend analysis to margins, discounts, and returns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6675120" y="1371600"/>
            <a:ext cx="4892040" cy="4663440"/>
          </a:xfrm>
          <a:prstGeom prst="roundRect">
            <a:avLst>
              <a:gd name="adj" fmla="val 2353"/>
            </a:avLst>
          </a:prstGeom>
          <a:solidFill>
            <a:srgbClr val="5A2E1E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6995160" y="1600200"/>
            <a:ext cx="4297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100" dirty="0">
                <a:solidFill>
                  <a:srgbClr val="D98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6995160" y="2011680"/>
            <a:ext cx="429768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dashboard successfully consolidates sales, marketing, and product performance into one interactive view. Furniture and Electronics are the primary revenue drivers, overall revenue has trended downward, and while late-funnel conversion is strong, the early add-to-cart stage is the biggest opportunity for improvement.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6995160" y="4434840"/>
            <a:ext cx="42976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300" i="1" dirty="0">
                <a:solidFill>
                  <a:srgbClr val="F3D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the fixes and enhancements proposed, this dashboard can evolve into a robust, predictive decision-support tool for the business.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640080" y="626364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</TotalTime>
  <Words>829</Words>
  <Application>Microsoft Office PowerPoint</Application>
  <PresentationFormat>Widescreen</PresentationFormat>
  <Paragraphs>141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SAKSHI</cp:lastModifiedBy>
  <cp:revision>4</cp:revision>
  <dcterms:created xsi:type="dcterms:W3CDTF">2026-09-07T18:40:49Z</dcterms:created>
  <dcterms:modified xsi:type="dcterms:W3CDTF">2026-09-07T19:50:26Z</dcterms:modified>
</cp:coreProperties>
</file>